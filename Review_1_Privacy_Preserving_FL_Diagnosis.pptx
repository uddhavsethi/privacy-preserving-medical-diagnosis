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48"/>
  </p:normalViewPr>
  <p:slideViewPr>
    <p:cSldViewPr snapToGrid="0">
      <p:cViewPr varScale="1">
        <p:scale>
          <a:sx n="112" d="100"/>
          <a:sy n="112" d="100"/>
        </p:scale>
        <p:origin x="6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29/07/26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project is Privacy-Preserving Medical Diagnosis using Federated Learning. In short, it lets hospitals team up to build a pneumonia-detection AI without ever handing over patient X-rays to anyone outside their own walls. Let's get into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aim is simple to state but hard to build: design a framework where multiple hospitals can jointly train an accurate pneumonia-detection model from chest X-rays, without any hospital ever sharing patient images with a central server or with each other. Everything I'll show you today is in service of that one sentence. Let's start with why this is even a problem.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situation in one breath. AI can already spot pneumonia in chest X-rays, but the usual way to train that AI is to collect everyone's X-rays onto one server — and hospitals simply can't do that for legal and ethical reasons. So I built a federated learning system: each hospital trains locally and only shares small model updates, never images. On top of that I added two more protections — Differential Privacy and Secure Aggregation — plus TLS encryption for the network, and I made the final model explainable and confidence-aware so doctors can trust it. Let's look at what's already been tried before I show you what's new.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at existing work: most chest X-ray classifiers — think ResNet, DenseNet, EfficientNet, CheXNet-style models — are trained the traditional centralized way, which works well only when hospitals are willing to pool their data. On the federated side, real healthcare trials like NVIDIA Clara FL and the FeTS brain-tumor consortium prove federated training can match centralized accuracy, so this isn't just theory. But here's the catch: most of these federated studies stop at basic averaging and rarely add real protection against a server trying to peek into the updates. Very few combine privacy, security, and clinical trust together. That gap is exactly what I'm going to fill.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to spell out the gap clearly: centralized training is still the default, so the privacy problem is usually just assumed away. Where federated learning IS used, people often treat the shared updates as automatically safe — but research shows updates can still leak information about the original images. Security features like encrypted transport or protecting one hospital's update from the server are usually missing, and clinical usability — explaining decisions, giving confidence — is almost never included. My project's gap, in one line: no single framework combines FL, Differential Privacy, Secure Aggregation, TLS, explainability and confidence into one working pneumonia pipeline. That's what I built.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Given that gap, here are my concrete objectives: build the federated pipeline so images never leave a hospital; add Differential Privacy so updates can't be reverse-engineered; add Secure Aggregation so even the server can't see one hospital's update alone; secure every message with TLS; reach strong pneumonia-detection accuracy using DenseNet121 transfer learning despite limited per-hospital data; and make the whole thing explainable and confidence-aware. This project aligns with UN Sustainable Development Goal 3 — Good Health and Well-Being — and I'm targeting a Scopus-indexed conference paper as an outcome. Now let's walk through how the system actually works, end to 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big picture. Every hospital — A, B, C, however many are in the network — runs an identical local pipeline: X-rays go through OpenCV preprocessing and then DenseNet121 training, completely inside their own walls. The only thing that ever leaves a hospital is a small, mathematically protected model update, shown here with the lock icon. All those updates converge on the Federated Server, which combines them using FedAvg into one improved global model, and sends that model back to every hospital. Then the whole round repeats. Let's zoom into each of those steps in more detail.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Walking through one full round: step one, the X-ray images never move — they stay inside the hospital the entire time. Step two, OpenCV cleans them up: resizing, CLAHE contrast enhancement, and normalization, so the model gets consistent, high-quality input. Step three, those images train DenseNet121 locally; I use transfer learning here because any single hospital simply doesn't have enough data to train a big CNN from scratch on its own. Step four — and this is important — before the update leaves the hospital, Differential Privacy adds carefully calibrated noise so nobody can reverse-engineer patient information from it. Step five, Secure Aggregation masks the update further, so even the federated server only ever sees the combined result, never one hospital's update in isolation. Step six, everything travels over a TLS-encrypted channel using Flower and gRPC, blocking eavesdropping and tampering. Step seven, the server averages every hospital's update into one better global model, sends it back, and the round repeats until the model is good enough. That's the whole engine. Next, let's talk about trust — because accuracy alone isn't enough in a hospital.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accurate model isn't useful to a doctor if it's a black box — nobody in a hospital will act on a prediction they can't understand. So I added two things. First, Grad-CAM, which generates a heatmap directly on the chest X-ray showing exactly which lung regions influenced the prediction, so a doctor can visually sanity-check the AI's reasoning. Second, Monte Carlo Dropout, which runs the same image through the network multiple times with dropout switched on, producing not just a prediction but a confidence score. If the model isn't confident, that case gets flagged for a doctor to review manually instead of being trusted blindly. This keeps a human in the loop exactly where it matters. Now let's step back and look at how all the privacy and security pieces fit together as a whole.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 helps to think of this as four layers, each protecting a different part of the system. Federated Learning protects the raw patient images by making sure they never leave the hospital in the first place. Differential Privacy protects the information hidden inside each model update. Secure Aggregation protects an individual hospital's update from being seen even by the server that's supposed to combine them. And TLS encryption protects every message while it's actually traveling across the network. Together, these four layers cover the entire pipeline — hospital, update, server, and network — with no single point left unprotected. Now let's compare this directly against how things are normally done.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Side by side, here's why this matters. Traditional AI collects patient images onto one server — that's a high privacy risk and a single point of failure. My system keeps images inside each hospital, so no single point ever holds all the data. Traditional systems often can't even get off the ground because hospitals refuse to share data; mine lets them collaborate without ever exposing it. Traditional model updates travel and sit unprotected; mine are protected by Differential Privacy and Secure Aggregation. And traditional predictions are a black box, while mine comes with Grad-CAM explanations and confidence scores built in from day one. This is really the whole pitch in one slide. Let's talk about what's actually new here, versus what I borrowed from existing research.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upfront: the novelty here is not a brand-new algorithm. DenseNet121, Differential Privacy, and Secure Aggregation are each individually well-studied techniques — I didn't invent any of them. The novelty is integration: combining OpenCV preprocessing, DenseNet121 transfer learning, Federated Learning, Differential Privacy, Secure Aggregation, TLS-secured communication, Grad-CAM explainability, and Monte Carlo Dropout confidence into one realistic, end-to-end medical diagnosis framework. Most published work picks one or two of these pieces at a time; this project shows they can genuinely work together as a single deployable pipeline a real hospital network could actually adopt. Let's close with where this could go next.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There's real room to grow this further. On the security side, I'd like to add Byzantine and model-poisoning detection to catch malicious or faulty hospital participants before they corrupt the global model, and digital-signature verification so the server can confirm every update genuinely came from a registered hospital. On the deployment side, the natural next steps are a real multi-hospital rollout beyond simulation, cloud-native deployment with Docker and Kubernetes for production reliability, and integration with hospital PACS systems so this plugs directly into existing radiology workflows. That's the roadmap. Thank you — I'm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references I've drawn on for the literature review and technical grounding of this project; happy to point to any of them in more detail if there are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29/07/26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29/07/26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29/07/26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29/07/26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29/07/26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29/07/26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29/07/26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29/07/26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29/07/26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29/07/26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29/07/26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29/07/26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3"/>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884599" y="1619244"/>
            <a:ext cx="8924544" cy="1975926"/>
          </a:xfrm>
          <a:prstGeom prst="rect">
            <a:avLst/>
          </a:prstGeom>
          <a:noFill/>
        </p:spPr>
        <p:txBody>
          <a:bodyPr wrap="square" rtlCol="0">
            <a:spAutoFit/>
          </a:bodyPr>
          <a:lstStyle/>
          <a:p>
            <a:pPr algn="ctr"/>
            <a:r>
              <a:rPr lang="en-IN" sz="2000" b="1" dirty="0" err="1">
                <a:latin typeface="Times New Roman" panose="02020603050405020304" pitchFamily="18" charset="0"/>
                <a:cs typeface="Times New Roman" panose="02020603050405020304" pitchFamily="18" charset="0"/>
              </a:rPr>
              <a:t>B.Tech</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BCSE497J-PROJECT I</a:t>
            </a:r>
            <a:br>
              <a:rPr lang="en-IN" sz="20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Privacy-Preserving Medical Diagnosis using Federated Learning</a:t>
            </a:r>
          </a:p>
        </p:txBody>
      </p:sp>
      <p:sp>
        <p:nvSpPr>
          <p:cNvPr id="9" name="object 3">
            <a:extLst>
              <a:ext uri="{FF2B5EF4-FFF2-40B4-BE49-F238E27FC236}">
                <a16:creationId xmlns:a16="http://schemas.microsoft.com/office/drawing/2014/main" id="{68BC382C-506F-4908-6AC3-C0AA73064F47}"/>
              </a:ext>
            </a:extLst>
          </p:cNvPr>
          <p:cNvSpPr txBox="1"/>
          <p:nvPr/>
        </p:nvSpPr>
        <p:spPr>
          <a:xfrm>
            <a:off x="997458" y="3928561"/>
            <a:ext cx="7071360" cy="2734082"/>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UDDHAV SETHI		  23BKT0092</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CHIRAG GADHYAN                   23BDS0265</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ISHAAN S SHRIVASTAV.            23BCI0130		</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a:latin typeface="Times New Roman"/>
                <a:cs typeface="Times New Roman"/>
              </a:rPr>
              <a:t>DR. ADALINE SUJI</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To design and build a privacy-preserving federated learning framework that lets multiple hospitals jointly train an accurate pneumonia-detection model from chest X-rays, without any hospital ever sharing patient images with a central server or with each other.</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29/07/26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AI can now spot diseases like pneumonia in chest X-rays, but training these models normally means moving patient data to one central server — something hospitals cannot legally or ethically do.</a:t>
            </a:r>
          </a:p>
          <a:p>
            <a:r>
              <a:rPr lang="en-IN" dirty="0">
                <a:latin typeface="Times New Roman" panose="02020603050405020304" pitchFamily="18" charset="0"/>
                <a:cs typeface="Times New Roman" panose="02020603050405020304" pitchFamily="18" charset="0"/>
              </a:rPr>
              <a:t>This project proposes a federated learning system where each hospital trains the model locally and only shares mathematical model updates, never the images themselves.</a:t>
            </a:r>
          </a:p>
          <a:p>
            <a:r>
              <a:rPr lang="en-IN" dirty="0">
                <a:latin typeface="Times New Roman" panose="02020603050405020304" pitchFamily="18" charset="0"/>
                <a:cs typeface="Times New Roman" panose="02020603050405020304" pitchFamily="18" charset="0"/>
              </a:rPr>
              <a:t>Two extra layers — Differential Privacy and Secure Aggregation — stop even those updates from leaking patient information, while TLS encryption protects every message in transit.</a:t>
            </a:r>
          </a:p>
          <a:p>
            <a:r>
              <a:rPr lang="en-IN" dirty="0">
                <a:latin typeface="Times New Roman" panose="02020603050405020304" pitchFamily="18" charset="0"/>
                <a:cs typeface="Times New Roman" panose="02020603050405020304" pitchFamily="18" charset="0"/>
              </a:rPr>
              <a:t>The resulting model is also explainable (Grad-CAM heatmaps) and confidence-aware (Monte Carlo Dropout), so doctors can verify its predictions instead of trusting a black box.</a:t>
            </a:r>
          </a:p>
          <a:p>
            <a:r>
              <a:rPr lang="en-IN" dirty="0">
                <a:latin typeface="Times New Roman" panose="02020603050405020304" pitchFamily="18" charset="0"/>
                <a:cs typeface="Times New Roman" panose="02020603050405020304" pitchFamily="18" charset="0"/>
              </a:rPr>
              <a:t>Together, this gives hospitals a practical way to collaborate on AI without ever giving up control of their patients’ data.</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345309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5" name="Content Placeholder 4"/>
          <p:cNvSpPr>
            <a:spLocks noGrp="1"/>
          </p:cNvSpPr>
          <p:nvPr>
            <p:ph idx="1"/>
          </p:nvPr>
        </p:nvSpPr>
        <p:spPr/>
        <p:txBody>
          <a:bodyPr>
            <a:normAutofit fontScale="85000" lnSpcReduction="10000"/>
          </a:bodyPr>
          <a:lstStyle/>
          <a:p>
            <a:r>
              <a:rPr lang="en-IN" dirty="0">
                <a:latin typeface="Times New Roman" panose="02020603050405020304" pitchFamily="18" charset="0"/>
                <a:cs typeface="Times New Roman" panose="02020603050405020304" pitchFamily="18" charset="0"/>
              </a:rPr>
              <a:t>Most published chest X-ray classifiers (ResNet, DenseNet, EfficientNet, CheXNet-style models) are trained the traditional way — all images pooled onto one server, which gives strong accuracy but only works where full data-sharing agreements exist.</a:t>
            </a:r>
          </a:p>
          <a:p>
            <a:r>
              <a:rPr lang="en-IN" dirty="0">
                <a:latin typeface="Times New Roman" panose="02020603050405020304" pitchFamily="18" charset="0"/>
                <a:cs typeface="Times New Roman" panose="02020603050405020304" pitchFamily="18" charset="0"/>
              </a:rPr>
              <a:t>Recent healthcare federated-learning trials (e.g., NVIDIA Clara FL, the FeTS brain-tumor consortium) show federated training can reach centralized-level accuracy — proof the approach is realistic for medical imaging, not just theory.</a:t>
            </a:r>
          </a:p>
          <a:p>
            <a:r>
              <a:rPr lang="en-IN" dirty="0">
                <a:latin typeface="Times New Roman" panose="02020603050405020304" pitchFamily="18" charset="0"/>
                <a:cs typeface="Times New Roman" panose="02020603050405020304" pitchFamily="18" charset="0"/>
              </a:rPr>
              <a:t>However, most published FL healthcare studies stop at basic Federated Averaging — they rarely add explicit protection against a curious or compromised server extracting information from the shared updates.</a:t>
            </a:r>
          </a:p>
          <a:p>
            <a:r>
              <a:rPr lang="en-IN" dirty="0">
                <a:latin typeface="Times New Roman" panose="02020603050405020304" pitchFamily="18" charset="0"/>
                <a:cs typeface="Times New Roman" panose="02020603050405020304" pitchFamily="18" charset="0"/>
              </a:rPr>
              <a:t>Very few combine formal privacy guarantees, cryptographic protection and clinical trust tools into one deployable pipeline — each piece is usually studied on its own.</a:t>
            </a:r>
          </a:p>
        </p:txBody>
      </p:sp>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29/07/26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8574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Centralized training remains the default in most published pneumonia-detection work, which means the underlying privacy problem is assumed away rather than solved.</a:t>
            </a:r>
          </a:p>
          <a:p>
            <a:r>
              <a:rPr lang="en-IN" dirty="0">
                <a:latin typeface="Times New Roman" panose="02020603050405020304" pitchFamily="18" charset="0"/>
                <a:cs typeface="Times New Roman" panose="02020603050405020304" pitchFamily="18" charset="0"/>
              </a:rPr>
              <a:t>Where federated learning is used, the shared model updates are usually treated as “safe by default” — but research shows updates can still leak information about the training images.</a:t>
            </a:r>
          </a:p>
          <a:p>
            <a:r>
              <a:rPr lang="en-IN" dirty="0">
                <a:latin typeface="Times New Roman" panose="02020603050405020304" pitchFamily="18" charset="0"/>
                <a:cs typeface="Times New Roman" panose="02020603050405020304" pitchFamily="18" charset="0"/>
              </a:rPr>
              <a:t>Security aspects — encrypted transport, protecting individual hospital updates from the server itself — are frequently missing or left as future work.</a:t>
            </a:r>
          </a:p>
          <a:p>
            <a:r>
              <a:rPr lang="en-IN" dirty="0">
                <a:latin typeface="Times New Roman" panose="02020603050405020304" pitchFamily="18" charset="0"/>
                <a:cs typeface="Times New Roman" panose="02020603050405020304" pitchFamily="18" charset="0"/>
              </a:rPr>
              <a:t>Clinical usability — showing doctors why the model decided what it decided, and how confident it is — is rarely built into these systems at all.</a:t>
            </a:r>
          </a:p>
          <a:p>
            <a:r>
              <a:rPr lang="en-IN" b="1" dirty="0">
                <a:latin typeface="Times New Roman" panose="02020603050405020304" pitchFamily="18" charset="0"/>
                <a:cs typeface="Times New Roman" panose="02020603050405020304" pitchFamily="18" charset="0"/>
              </a:rPr>
              <a:t>Gap: </a:t>
            </a:r>
            <a:r>
              <a:rPr lang="en-IN" dirty="0">
                <a:latin typeface="Times New Roman" panose="02020603050405020304" pitchFamily="18" charset="0"/>
                <a:cs typeface="Times New Roman" panose="02020603050405020304" pitchFamily="18" charset="0"/>
              </a:rPr>
              <a:t>no single framework combines FL + Differential Privacy + Secure Aggregation + TLS + explainability + confidence in one working pneumonia-detection pipeline. This project fills that gap.</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29/07/26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5</a:t>
            </a:fld>
            <a:endParaRPr lang="en-IN"/>
          </a:p>
        </p:txBody>
      </p:sp>
    </p:spTree>
    <p:extLst>
      <p:ext uri="{BB962C8B-B14F-4D97-AF65-F5344CB8AC3E}">
        <p14:creationId xmlns:p14="http://schemas.microsoft.com/office/powerpoint/2010/main" val="2623102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38200" y="1825625"/>
            <a:ext cx="10515600" cy="2400000"/>
          </a:xfrm>
        </p:spPr>
        <p:txBody>
          <a:bodyPr>
            <a:normAutofit fontScale="55000" lnSpcReduction="20000"/>
          </a:bodyPr>
          <a:lstStyle/>
          <a:p>
            <a:r>
              <a:rPr lang="en-IN" dirty="0">
                <a:latin typeface="Times New Roman" panose="02020603050405020304" pitchFamily="18" charset="0"/>
                <a:cs typeface="Times New Roman" panose="02020603050405020304" pitchFamily="18" charset="0"/>
              </a:rPr>
              <a:t>Build a federated learning pipeline so hospitals train locally and only share model updates — never patient images.</a:t>
            </a:r>
          </a:p>
          <a:p>
            <a:r>
              <a:rPr lang="en-IN" dirty="0">
                <a:latin typeface="Times New Roman" panose="02020603050405020304" pitchFamily="18" charset="0"/>
                <a:cs typeface="Times New Roman" panose="02020603050405020304" pitchFamily="18" charset="0"/>
              </a:rPr>
              <a:t>Apply Differential Privacy to model updates so no patient’s data can be reverse-engineered from them.</a:t>
            </a:r>
          </a:p>
          <a:p>
            <a:r>
              <a:rPr lang="en-IN" dirty="0">
                <a:latin typeface="Times New Roman" panose="02020603050405020304" pitchFamily="18" charset="0"/>
                <a:cs typeface="Times New Roman" panose="02020603050405020304" pitchFamily="18" charset="0"/>
              </a:rPr>
              <a:t>Add Secure Aggregation so even the central server cannot see any single hospital’s update, only the combined result.</a:t>
            </a:r>
          </a:p>
          <a:p>
            <a:r>
              <a:rPr lang="en-IN" dirty="0">
                <a:latin typeface="Times New Roman" panose="02020603050405020304" pitchFamily="18" charset="0"/>
                <a:cs typeface="Times New Roman" panose="02020603050405020304" pitchFamily="18" charset="0"/>
              </a:rPr>
              <a:t>Secure all communication with TLS-encrypted transport (Flower + gRPC) to prevent eavesdropping and tampering.</a:t>
            </a:r>
          </a:p>
          <a:p>
            <a:r>
              <a:rPr lang="en-IN" dirty="0">
                <a:latin typeface="Times New Roman" panose="02020603050405020304" pitchFamily="18" charset="0"/>
                <a:cs typeface="Times New Roman" panose="02020603050405020304" pitchFamily="18" charset="0"/>
              </a:rPr>
              <a:t>Reach high pneumonia-detection accuracy with DenseNet121 transfer learning, despite each hospital having limited data.</a:t>
            </a:r>
          </a:p>
          <a:p>
            <a:r>
              <a:rPr lang="en-IN" dirty="0">
                <a:latin typeface="Times New Roman" panose="02020603050405020304" pitchFamily="18" charset="0"/>
                <a:cs typeface="Times New Roman" panose="02020603050405020304" pitchFamily="18" charset="0"/>
              </a:rPr>
              <a:t>Make the model explainable (Grad-CAM) and confidence-aware (Monte Carlo Dropout) so clinicians can trust its output.</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29/07/26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6</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3944039"/>
            <a:ext cx="11523407" cy="89255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Identified:   Sustainable Development Goal 3 – Good Health &amp; Well-Being	|	Outcome: </a:t>
            </a:r>
            <a:r>
              <a:rPr lang="en-IN" sz="1600" dirty="0">
                <a:latin typeface="Times New Roman" panose="02020603050405020304" pitchFamily="18" charset="0"/>
                <a:cs typeface="Times New Roman" panose="02020603050405020304" pitchFamily="18" charset="0"/>
              </a:rPr>
              <a:t>Conference Paper (Scopus)</a:t>
            </a:r>
          </a:p>
          <a:p>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3"/>
          <a:stretch>
            <a:fillRect/>
          </a:stretch>
        </p:blipFill>
        <p:spPr>
          <a:xfrm>
            <a:off x="1990701" y="4778273"/>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4"/>
          <a:stretch>
            <a:fillRect/>
          </a:stretch>
        </p:blipFill>
        <p:spPr>
          <a:xfrm>
            <a:off x="5237545" y="4413148"/>
            <a:ext cx="2447027" cy="2232651"/>
          </a:xfrm>
          <a:prstGeom prst="rect">
            <a:avLst/>
          </a:prstGeom>
        </p:spPr>
      </p:pic>
    </p:spTree>
    <p:extLst>
      <p:ext uri="{BB962C8B-B14F-4D97-AF65-F5344CB8AC3E}">
        <p14:creationId xmlns:p14="http://schemas.microsoft.com/office/powerpoint/2010/main" val="2335962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765810" y="1598455"/>
            <a:ext cx="10515600" cy="700000"/>
          </a:xfrm>
          <a:solidFill>
            <a:schemeClr val="bg1"/>
          </a:solidFill>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Every hospital repeats the same local pipeline; only a small, protected model update ever leaves the hospital walls.</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a:solidFill>
            <a:schemeClr val="bg1"/>
          </a:solidFill>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System Workflow – The Big Picture</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a:solidFill>
            <a:schemeClr val="bg1"/>
          </a:solidFill>
        </p:spPr>
        <p:txBody>
          <a:bodyPr/>
          <a:lstStyle/>
          <a:p>
            <a:fld id="{22261D5D-2F82-4210-B67C-C3AADE7FED47}" type="datetime1">
              <a:rPr lang="en-IN" smtClean="0">
                <a:solidFill>
                  <a:schemeClr val="tx1"/>
                </a:solidFill>
                <a:latin typeface="Times New Roman" panose="02020603050405020304" pitchFamily="18" charset="0"/>
                <a:cs typeface="Times New Roman" panose="02020603050405020304" pitchFamily="18" charset="0"/>
              </a:rPr>
              <a:t>29/07/26</a:t>
            </a:fld>
            <a:endParaRPr lang="en-IN">
              <a:solidFill>
                <a:schemeClr val="tx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a:solidFill>
            <a:schemeClr val="bg1"/>
          </a:solidFill>
        </p:spPr>
        <p:txBody>
          <a:bodyPr/>
          <a:lstStyle/>
          <a:p>
            <a:r>
              <a:rPr lang="en-IN">
                <a:solidFill>
                  <a:schemeClr val="tx1"/>
                </a:solidFill>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a:solidFill>
            <a:schemeClr val="bg1"/>
          </a:solidFill>
        </p:spPr>
        <p:txBody>
          <a:bodyPr/>
          <a:lstStyle/>
          <a:p>
            <a:fld id="{65201FD4-9D8D-4491-815B-63C7BF4F0034}" type="slidenum">
              <a:rPr lang="en-IN" smtClean="0">
                <a:solidFill>
                  <a:schemeClr val="tx1"/>
                </a:solidFill>
                <a:latin typeface="Times New Roman" panose="02020603050405020304" pitchFamily="18" charset="0"/>
                <a:cs typeface="Times New Roman" panose="02020603050405020304" pitchFamily="18" charset="0"/>
              </a:rPr>
              <a:t>7</a:t>
            </a:fld>
            <a:endParaRPr lang="en-IN">
              <a:solidFill>
                <a:schemeClr val="tx1"/>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502920" y="2606040"/>
            <a:ext cx="2880360" cy="1051560"/>
          </a:xfrm>
          <a:prstGeom prst="round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dirty="0">
                <a:solidFill>
                  <a:schemeClr val="tx1"/>
                </a:solidFill>
                <a:latin typeface="Times New Roman" panose="02020603050405020304" pitchFamily="18" charset="0"/>
                <a:cs typeface="Times New Roman" panose="02020603050405020304" pitchFamily="18" charset="0"/>
              </a:rPr>
              <a:t>Hospital A</a:t>
            </a:r>
          </a:p>
          <a:p>
            <a:pPr algn="ctr"/>
            <a:r>
              <a:rPr sz="1050" b="0" dirty="0">
                <a:solidFill>
                  <a:schemeClr val="tx1"/>
                </a:solidFill>
                <a:latin typeface="Times New Roman" panose="02020603050405020304" pitchFamily="18" charset="0"/>
                <a:cs typeface="Times New Roman" panose="02020603050405020304" pitchFamily="18" charset="0"/>
              </a:rPr>
              <a:t>X-ray → OpenCV → DenseNet121</a:t>
            </a:r>
          </a:p>
        </p:txBody>
      </p:sp>
      <p:sp>
        <p:nvSpPr>
          <p:cNvPr id="8" name="Rounded Rectangle 7"/>
          <p:cNvSpPr/>
          <p:nvPr/>
        </p:nvSpPr>
        <p:spPr>
          <a:xfrm>
            <a:off x="4526280" y="2606040"/>
            <a:ext cx="2880360" cy="1051560"/>
          </a:xfrm>
          <a:prstGeom prst="round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dirty="0">
                <a:solidFill>
                  <a:schemeClr val="tx1"/>
                </a:solidFill>
                <a:latin typeface="Times New Roman" panose="02020603050405020304" pitchFamily="18" charset="0"/>
                <a:cs typeface="Times New Roman" panose="02020603050405020304" pitchFamily="18" charset="0"/>
              </a:rPr>
              <a:t>Hospital B</a:t>
            </a:r>
          </a:p>
          <a:p>
            <a:pPr algn="ctr"/>
            <a:r>
              <a:rPr sz="1050" b="0" dirty="0">
                <a:solidFill>
                  <a:schemeClr val="tx1"/>
                </a:solidFill>
                <a:latin typeface="Times New Roman" panose="02020603050405020304" pitchFamily="18" charset="0"/>
                <a:cs typeface="Times New Roman" panose="02020603050405020304" pitchFamily="18" charset="0"/>
              </a:rPr>
              <a:t>X-ray → OpenCV → DenseNet121</a:t>
            </a:r>
          </a:p>
        </p:txBody>
      </p:sp>
      <p:sp>
        <p:nvSpPr>
          <p:cNvPr id="9" name="Rounded Rectangle 8"/>
          <p:cNvSpPr/>
          <p:nvPr/>
        </p:nvSpPr>
        <p:spPr>
          <a:xfrm>
            <a:off x="8549640" y="2606040"/>
            <a:ext cx="2880360" cy="1051560"/>
          </a:xfrm>
          <a:prstGeom prst="round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chemeClr val="tx1"/>
                </a:solidFill>
                <a:latin typeface="Times New Roman" panose="02020603050405020304" pitchFamily="18" charset="0"/>
                <a:cs typeface="Times New Roman" panose="02020603050405020304" pitchFamily="18" charset="0"/>
              </a:rPr>
              <a:t>Hospital C</a:t>
            </a:r>
          </a:p>
          <a:p>
            <a:pPr algn="ctr"/>
            <a:r>
              <a:rPr sz="1050" b="0">
                <a:solidFill>
                  <a:schemeClr val="tx1"/>
                </a:solidFill>
                <a:latin typeface="Times New Roman" panose="02020603050405020304" pitchFamily="18" charset="0"/>
                <a:cs typeface="Times New Roman" panose="02020603050405020304" pitchFamily="18" charset="0"/>
              </a:rPr>
              <a:t>X-ray → OpenCV → DenseNet121</a:t>
            </a:r>
          </a:p>
        </p:txBody>
      </p:sp>
      <p:cxnSp>
        <p:nvCxnSpPr>
          <p:cNvPr id="11" name="Connector 10"/>
          <p:cNvCxnSpPr/>
          <p:nvPr/>
        </p:nvCxnSpPr>
        <p:spPr>
          <a:xfrm>
            <a:off x="5966460" y="3657600"/>
            <a:ext cx="114300" cy="502920"/>
          </a:xfrm>
          <a:prstGeom prst="line">
            <a:avLst/>
          </a:prstGeom>
          <a:ln w="25400">
            <a:solidFill>
              <a:srgbClr val="2129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2920" y="3675887"/>
            <a:ext cx="2880360" cy="238527"/>
          </a:xfrm>
          <a:prstGeom prst="rect">
            <a:avLst/>
          </a:prstGeom>
          <a:solidFill>
            <a:schemeClr val="bg1"/>
          </a:solidFill>
        </p:spPr>
        <p:txBody>
          <a:bodyPr wrap="square">
            <a:spAutoFit/>
          </a:bodyPr>
          <a:lstStyle/>
          <a:p>
            <a:pPr algn="ctr"/>
            <a:r>
              <a:rPr sz="950" b="0" dirty="0">
                <a:latin typeface="Times New Roman" panose="02020603050405020304" pitchFamily="18" charset="0"/>
                <a:cs typeface="Times New Roman" panose="02020603050405020304" pitchFamily="18" charset="0"/>
              </a:rPr>
              <a:t>protected update only</a:t>
            </a:r>
          </a:p>
        </p:txBody>
      </p:sp>
      <p:sp>
        <p:nvSpPr>
          <p:cNvPr id="14" name="TextBox 13"/>
          <p:cNvSpPr txBox="1"/>
          <p:nvPr/>
        </p:nvSpPr>
        <p:spPr>
          <a:xfrm>
            <a:off x="4526280" y="3675887"/>
            <a:ext cx="2880360" cy="238527"/>
          </a:xfrm>
          <a:prstGeom prst="rect">
            <a:avLst/>
          </a:prstGeom>
          <a:solidFill>
            <a:schemeClr val="bg1"/>
          </a:solidFill>
        </p:spPr>
        <p:txBody>
          <a:bodyPr wrap="square">
            <a:spAutoFit/>
          </a:bodyPr>
          <a:lstStyle/>
          <a:p>
            <a:pPr algn="ctr"/>
            <a:r>
              <a:rPr sz="950" b="0" dirty="0">
                <a:latin typeface="Times New Roman" panose="02020603050405020304" pitchFamily="18" charset="0"/>
                <a:cs typeface="Times New Roman" panose="02020603050405020304" pitchFamily="18" charset="0"/>
              </a:rPr>
              <a:t> protected update only</a:t>
            </a:r>
          </a:p>
        </p:txBody>
      </p:sp>
      <p:sp>
        <p:nvSpPr>
          <p:cNvPr id="15" name="TextBox 14"/>
          <p:cNvSpPr txBox="1"/>
          <p:nvPr/>
        </p:nvSpPr>
        <p:spPr>
          <a:xfrm>
            <a:off x="8549640" y="3675887"/>
            <a:ext cx="2880360" cy="238527"/>
          </a:xfrm>
          <a:prstGeom prst="rect">
            <a:avLst/>
          </a:prstGeom>
          <a:solidFill>
            <a:schemeClr val="bg1"/>
          </a:solidFill>
        </p:spPr>
        <p:txBody>
          <a:bodyPr wrap="square">
            <a:spAutoFit/>
          </a:bodyPr>
          <a:lstStyle/>
          <a:p>
            <a:pPr algn="ctr"/>
            <a:r>
              <a:rPr sz="950" b="0" dirty="0">
                <a:latin typeface="Times New Roman" panose="02020603050405020304" pitchFamily="18" charset="0"/>
                <a:cs typeface="Times New Roman" panose="02020603050405020304" pitchFamily="18" charset="0"/>
              </a:rPr>
              <a:t> protected update only</a:t>
            </a:r>
          </a:p>
        </p:txBody>
      </p:sp>
      <p:sp>
        <p:nvSpPr>
          <p:cNvPr id="16" name="Rounded Rectangle 15"/>
          <p:cNvSpPr/>
          <p:nvPr/>
        </p:nvSpPr>
        <p:spPr>
          <a:xfrm>
            <a:off x="4480560" y="4160520"/>
            <a:ext cx="3200400" cy="914400"/>
          </a:xfrm>
          <a:prstGeom prst="round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dirty="0">
                <a:solidFill>
                  <a:schemeClr val="tx1"/>
                </a:solidFill>
                <a:latin typeface="Times New Roman" panose="02020603050405020304" pitchFamily="18" charset="0"/>
                <a:cs typeface="Times New Roman" panose="02020603050405020304" pitchFamily="18" charset="0"/>
              </a:rPr>
              <a:t>Federated Server</a:t>
            </a:r>
          </a:p>
          <a:p>
            <a:pPr algn="ctr"/>
            <a:r>
              <a:rPr sz="1100" b="0" dirty="0">
                <a:solidFill>
                  <a:schemeClr val="tx1"/>
                </a:solidFill>
                <a:latin typeface="Times New Roman" panose="02020603050405020304" pitchFamily="18" charset="0"/>
                <a:cs typeface="Times New Roman" panose="02020603050405020304" pitchFamily="18" charset="0"/>
              </a:rPr>
              <a:t>Combines updates (</a:t>
            </a:r>
            <a:r>
              <a:rPr sz="1100" b="0" dirty="0" err="1">
                <a:solidFill>
                  <a:schemeClr val="tx1"/>
                </a:solidFill>
                <a:latin typeface="Times New Roman" panose="02020603050405020304" pitchFamily="18" charset="0"/>
                <a:cs typeface="Times New Roman" panose="02020603050405020304" pitchFamily="18" charset="0"/>
              </a:rPr>
              <a:t>FedAvg</a:t>
            </a:r>
            <a:r>
              <a:rPr sz="1100" b="0" dirty="0">
                <a:solidFill>
                  <a:schemeClr val="tx1"/>
                </a:solidFill>
                <a:latin typeface="Times New Roman" panose="02020603050405020304" pitchFamily="18" charset="0"/>
                <a:cs typeface="Times New Roman" panose="02020603050405020304" pitchFamily="18" charset="0"/>
              </a:rPr>
              <a:t>)</a:t>
            </a:r>
          </a:p>
        </p:txBody>
      </p:sp>
      <p:cxnSp>
        <p:nvCxnSpPr>
          <p:cNvPr id="17" name="Connector 16"/>
          <p:cNvCxnSpPr/>
          <p:nvPr/>
        </p:nvCxnSpPr>
        <p:spPr>
          <a:xfrm>
            <a:off x="6080760" y="5074920"/>
            <a:ext cx="0" cy="502920"/>
          </a:xfrm>
          <a:prstGeom prst="line">
            <a:avLst/>
          </a:prstGeom>
          <a:ln w="25400">
            <a:solidFill>
              <a:srgbClr val="00A8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566160" y="5623559"/>
            <a:ext cx="5029200" cy="261610"/>
          </a:xfrm>
          <a:prstGeom prst="rect">
            <a:avLst/>
          </a:prstGeom>
          <a:solidFill>
            <a:schemeClr val="bg1"/>
          </a:solidFill>
        </p:spPr>
        <p:txBody>
          <a:bodyPr wrap="square">
            <a:spAutoFit/>
          </a:bodyPr>
          <a:lstStyle/>
          <a:p>
            <a:pPr algn="ctr"/>
            <a:r>
              <a:rPr sz="1100" b="1">
                <a:latin typeface="Times New Roman" panose="02020603050405020304" pitchFamily="18" charset="0"/>
                <a:cs typeface="Times New Roman" panose="02020603050405020304" pitchFamily="18" charset="0"/>
              </a:rPr>
              <a:t>Improved Global Model sent back to every hospital — round repeats</a:t>
            </a:r>
          </a:p>
        </p:txBody>
      </p:sp>
    </p:spTree>
    <p:extLst>
      <p:ext uri="{BB962C8B-B14F-4D97-AF65-F5344CB8AC3E}">
        <p14:creationId xmlns:p14="http://schemas.microsoft.com/office/powerpoint/2010/main" val="3453097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1. Chest X-ray images stay inside the hospital at all times — they are never uploaded anywhere.</a:t>
            </a:r>
          </a:p>
          <a:p>
            <a:r>
              <a:rPr lang="en-IN" dirty="0">
                <a:latin typeface="Times New Roman" panose="02020603050405020304" pitchFamily="18" charset="0"/>
                <a:cs typeface="Times New Roman" panose="02020603050405020304" pitchFamily="18" charset="0"/>
              </a:rPr>
              <a:t>2. OpenCV prepares the images — resizing, CLAHE contrast enhancement and normalization — so the model sees clean, comparable inputs.</a:t>
            </a:r>
          </a:p>
          <a:p>
            <a:r>
              <a:rPr lang="en-IN" dirty="0">
                <a:latin typeface="Times New Roman" panose="02020603050405020304" pitchFamily="18" charset="0"/>
                <a:cs typeface="Times New Roman" panose="02020603050405020304" pitchFamily="18" charset="0"/>
              </a:rPr>
              <a:t>3. The processed images train DenseNet121 locally, using transfer learning because one hospital alone has too little data to train a large CNN from scratch.</a:t>
            </a:r>
          </a:p>
          <a:p>
            <a:r>
              <a:rPr lang="en-IN" dirty="0">
                <a:latin typeface="Times New Roman" panose="02020603050405020304" pitchFamily="18" charset="0"/>
                <a:cs typeface="Times New Roman" panose="02020603050405020304" pitchFamily="18" charset="0"/>
              </a:rPr>
              <a:t>4. Before anything leaves the hospital, Differential Privacy adds carefully calibrated noise to the update so it cannot be reverse-engineered to reveal patient information.</a:t>
            </a:r>
          </a:p>
          <a:p>
            <a:r>
              <a:rPr lang="en-IN" dirty="0">
                <a:latin typeface="Times New Roman" panose="02020603050405020304" pitchFamily="18" charset="0"/>
                <a:cs typeface="Times New Roman" panose="02020603050405020304" pitchFamily="18" charset="0"/>
              </a:rPr>
              <a:t>5. Secure Aggregation masks the update further, so even the federated server sees only the combined result, never one hospital’s update alone.</a:t>
            </a:r>
          </a:p>
          <a:p>
            <a:r>
              <a:rPr lang="en-IN" dirty="0">
                <a:latin typeface="Times New Roman" panose="02020603050405020304" pitchFamily="18" charset="0"/>
                <a:cs typeface="Times New Roman" panose="02020603050405020304" pitchFamily="18" charset="0"/>
              </a:rPr>
              <a:t>6. The protected update travels to the server over a TLS-encrypted channel (Flower + gRPC), blocking eavesdropping, tampering and impersonation.</a:t>
            </a:r>
          </a:p>
          <a:p>
            <a:r>
              <a:rPr lang="en-IN" dirty="0">
                <a:latin typeface="Times New Roman" panose="02020603050405020304" pitchFamily="18" charset="0"/>
                <a:cs typeface="Times New Roman" panose="02020603050405020304" pitchFamily="18" charset="0"/>
              </a:rPr>
              <a:t>7. The server averages every hospital’s update (FedAvg) into one improved global model and sends it back — the round repeats until the model is accurate enough.</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How Each Training Round Works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8</a:t>
            </a:fld>
            <a:endParaRPr lang="en-IN"/>
          </a:p>
        </p:txBody>
      </p:sp>
    </p:spTree>
    <p:extLst>
      <p:ext uri="{BB962C8B-B14F-4D97-AF65-F5344CB8AC3E}">
        <p14:creationId xmlns:p14="http://schemas.microsoft.com/office/powerpoint/2010/main" val="345309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An accurate model is not useful in a hospital if doctors cannot see why it made a decision — medical AI cannot be a black box.</a:t>
            </a:r>
          </a:p>
          <a:p>
            <a:r>
              <a:rPr lang="en-IN" dirty="0">
                <a:latin typeface="Times New Roman" panose="02020603050405020304" pitchFamily="18" charset="0"/>
                <a:cs typeface="Times New Roman" panose="02020603050405020304" pitchFamily="18" charset="0"/>
              </a:rPr>
              <a:t>Grad-CAM generates a heatmap over the chest X-ray, highlighting exactly which lung regions influenced the “Pneumonia” or “Normal” prediction, so doctors can visually check the reasoning.</a:t>
            </a:r>
          </a:p>
          <a:p>
            <a:r>
              <a:rPr lang="en-IN" dirty="0">
                <a:latin typeface="Times New Roman" panose="02020603050405020304" pitchFamily="18" charset="0"/>
                <a:cs typeface="Times New Roman" panose="02020603050405020304" pitchFamily="18" charset="0"/>
              </a:rPr>
              <a:t>A model should also know when it is unsure. Monte Carlo Dropout runs the same image through the network multiple times with dropout active, producing a confidence score alongside the prediction.</a:t>
            </a:r>
          </a:p>
          <a:p>
            <a:r>
              <a:rPr lang="en-IN" dirty="0">
                <a:latin typeface="Times New Roman" panose="02020603050405020304" pitchFamily="18" charset="0"/>
                <a:cs typeface="Times New Roman" panose="02020603050405020304" pitchFamily="18" charset="0"/>
              </a:rPr>
              <a:t>Low-confidence cases are automatically flagged for manual doctor review instead of being trusted blindly — keeping a human in the loop.</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Making the AI Trustworthy for Doctors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9</a:t>
            </a:fld>
            <a:endParaRPr lang="en-IN"/>
          </a:p>
        </p:txBody>
      </p:sp>
    </p:spTree>
    <p:extLst>
      <p:ext uri="{BB962C8B-B14F-4D97-AF65-F5344CB8AC3E}">
        <p14:creationId xmlns:p14="http://schemas.microsoft.com/office/powerpoint/2010/main" val="3453097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838200" y="1825625"/>
            <a:ext cx="10515600" cy="700000"/>
          </a:xfrm>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Each layer protects a different part of the system — together they cover the entire pipeline, from the hospital to the network to the server.</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Layered Security Architecture</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10</a:t>
            </a:fld>
            <a:endParaRPr lang="en-IN"/>
          </a:p>
        </p:txBody>
      </p:sp>
      <p:sp>
        <p:nvSpPr>
          <p:cNvPr id="7" name="Rounded Rectangle 6"/>
          <p:cNvSpPr/>
          <p:nvPr/>
        </p:nvSpPr>
        <p:spPr>
          <a:xfrm>
            <a:off x="640080" y="2514600"/>
            <a:ext cx="2834640" cy="841248"/>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Federated Learning</a:t>
            </a:r>
          </a:p>
        </p:txBody>
      </p:sp>
      <p:sp>
        <p:nvSpPr>
          <p:cNvPr id="8" name="Rectangle 7"/>
          <p:cNvSpPr/>
          <p:nvPr/>
        </p:nvSpPr>
        <p:spPr>
          <a:xfrm>
            <a:off x="3611879" y="2514600"/>
            <a:ext cx="7863840" cy="8412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sz="1300" b="0">
                <a:solidFill>
                  <a:srgbClr val="333333"/>
                </a:solidFill>
                <a:latin typeface="Calibri"/>
              </a:rPr>
              <a:t>Protects raw patient images — they never leave the hospital</a:t>
            </a:r>
          </a:p>
        </p:txBody>
      </p:sp>
      <p:sp>
        <p:nvSpPr>
          <p:cNvPr id="9" name="Rounded Rectangle 8"/>
          <p:cNvSpPr/>
          <p:nvPr/>
        </p:nvSpPr>
        <p:spPr>
          <a:xfrm>
            <a:off x="640080" y="3465576"/>
            <a:ext cx="2834640" cy="841248"/>
          </a:xfrm>
          <a:prstGeom prst="round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Differential Privacy</a:t>
            </a:r>
          </a:p>
        </p:txBody>
      </p:sp>
      <p:sp>
        <p:nvSpPr>
          <p:cNvPr id="10" name="Rectangle 9"/>
          <p:cNvSpPr/>
          <p:nvPr/>
        </p:nvSpPr>
        <p:spPr>
          <a:xfrm>
            <a:off x="3611879" y="3465576"/>
            <a:ext cx="7863840" cy="8412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sz="1300" b="0">
                <a:solidFill>
                  <a:srgbClr val="333333"/>
                </a:solidFill>
                <a:latin typeface="Calibri"/>
              </a:rPr>
              <a:t>Protects information hidden inside each model update</a:t>
            </a:r>
          </a:p>
        </p:txBody>
      </p:sp>
      <p:sp>
        <p:nvSpPr>
          <p:cNvPr id="11" name="Rounded Rectangle 10"/>
          <p:cNvSpPr/>
          <p:nvPr/>
        </p:nvSpPr>
        <p:spPr>
          <a:xfrm>
            <a:off x="640080" y="4416552"/>
            <a:ext cx="2834640" cy="841248"/>
          </a:xfrm>
          <a:prstGeom prst="round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Secure Aggregation</a:t>
            </a:r>
          </a:p>
        </p:txBody>
      </p:sp>
      <p:sp>
        <p:nvSpPr>
          <p:cNvPr id="12" name="Rectangle 11"/>
          <p:cNvSpPr/>
          <p:nvPr/>
        </p:nvSpPr>
        <p:spPr>
          <a:xfrm>
            <a:off x="3611879" y="4416552"/>
            <a:ext cx="7863840" cy="8412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sz="1300" b="0">
                <a:solidFill>
                  <a:srgbClr val="333333"/>
                </a:solidFill>
                <a:latin typeface="Calibri"/>
              </a:rPr>
              <a:t>Protects each hospital's update from the server itself</a:t>
            </a:r>
          </a:p>
        </p:txBody>
      </p:sp>
      <p:sp>
        <p:nvSpPr>
          <p:cNvPr id="13" name="Rounded Rectangle 12"/>
          <p:cNvSpPr/>
          <p:nvPr/>
        </p:nvSpPr>
        <p:spPr>
          <a:xfrm>
            <a:off x="640080" y="5367528"/>
            <a:ext cx="2834640" cy="841248"/>
          </a:xfrm>
          <a:prstGeom prst="round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TLS Encryption</a:t>
            </a:r>
          </a:p>
        </p:txBody>
      </p:sp>
      <p:sp>
        <p:nvSpPr>
          <p:cNvPr id="14" name="Rectangle 13"/>
          <p:cNvSpPr/>
          <p:nvPr/>
        </p:nvSpPr>
        <p:spPr>
          <a:xfrm>
            <a:off x="3611879" y="5367528"/>
            <a:ext cx="7863840" cy="8412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sz="1300" b="0">
                <a:solidFill>
                  <a:srgbClr val="333333"/>
                </a:solidFill>
                <a:latin typeface="Calibri"/>
              </a:rPr>
              <a:t>Protects every message while it travels over the network</a:t>
            </a:r>
          </a:p>
        </p:txBody>
      </p:sp>
    </p:spTree>
    <p:extLst>
      <p:ext uri="{BB962C8B-B14F-4D97-AF65-F5344CB8AC3E}">
        <p14:creationId xmlns:p14="http://schemas.microsoft.com/office/powerpoint/2010/main" val="3453097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fontScale="92500" lnSpcReduction="10000"/>
          </a:bodyPr>
          <a:lstStyle/>
          <a:p>
            <a:r>
              <a:rPr lang="en-IN" b="1" dirty="0">
                <a:latin typeface="Times New Roman" panose="02020603050405020304" pitchFamily="18" charset="0"/>
                <a:cs typeface="Times New Roman" panose="02020603050405020304" pitchFamily="18" charset="0"/>
              </a:rPr>
              <a:t>Traditional AI: </a:t>
            </a:r>
            <a:r>
              <a:rPr lang="en-IN" dirty="0">
                <a:latin typeface="Times New Roman" panose="02020603050405020304" pitchFamily="18" charset="0"/>
                <a:cs typeface="Times New Roman" panose="02020603050405020304" pitchFamily="18" charset="0"/>
              </a:rPr>
              <a:t>patient images collected on one server — high privacy risk and a single point of failure.  </a:t>
            </a:r>
            <a:r>
              <a:rPr lang="en-IN" b="1" dirty="0">
                <a:latin typeface="Times New Roman" panose="02020603050405020304" pitchFamily="18" charset="0"/>
                <a:cs typeface="Times New Roman" panose="02020603050405020304" pitchFamily="18" charset="0"/>
              </a:rPr>
              <a:t>Proposed System: </a:t>
            </a:r>
            <a:r>
              <a:rPr lang="en-IN" dirty="0">
                <a:latin typeface="Times New Roman" panose="02020603050405020304" pitchFamily="18" charset="0"/>
                <a:cs typeface="Times New Roman" panose="02020603050405020304" pitchFamily="18" charset="0"/>
              </a:rPr>
              <a:t>patient images always stay inside their own hospital — no single point holds all the data.</a:t>
            </a:r>
          </a:p>
          <a:p>
            <a:r>
              <a:rPr lang="en-IN" b="1" dirty="0">
                <a:latin typeface="Times New Roman" panose="02020603050405020304" pitchFamily="18" charset="0"/>
                <a:cs typeface="Times New Roman" panose="02020603050405020304" pitchFamily="18" charset="0"/>
              </a:rPr>
              <a:t>Traditional AI: </a:t>
            </a:r>
            <a:r>
              <a:rPr lang="en-IN" dirty="0">
                <a:latin typeface="Times New Roman" panose="02020603050405020304" pitchFamily="18" charset="0"/>
                <a:cs typeface="Times New Roman" panose="02020603050405020304" pitchFamily="18" charset="0"/>
              </a:rPr>
              <a:t>hospitals often refuse to share data at all.  </a:t>
            </a:r>
            <a:r>
              <a:rPr lang="en-IN" b="1" dirty="0">
                <a:latin typeface="Times New Roman" panose="02020603050405020304" pitchFamily="18" charset="0"/>
                <a:cs typeface="Times New Roman" panose="02020603050405020304" pitchFamily="18" charset="0"/>
              </a:rPr>
              <a:t>Proposed System: </a:t>
            </a:r>
            <a:r>
              <a:rPr lang="en-IN" dirty="0">
                <a:latin typeface="Times New Roman" panose="02020603050405020304" pitchFamily="18" charset="0"/>
                <a:cs typeface="Times New Roman" panose="02020603050405020304" pitchFamily="18" charset="0"/>
              </a:rPr>
              <a:t>hospitals collaborate without ever exposing their data.</a:t>
            </a:r>
          </a:p>
          <a:p>
            <a:r>
              <a:rPr lang="en-IN" b="1" dirty="0">
                <a:latin typeface="Times New Roman" panose="02020603050405020304" pitchFamily="18" charset="0"/>
                <a:cs typeface="Times New Roman" panose="02020603050405020304" pitchFamily="18" charset="0"/>
              </a:rPr>
              <a:t>Traditional AI: </a:t>
            </a:r>
            <a:r>
              <a:rPr lang="en-IN" dirty="0">
                <a:latin typeface="Times New Roman" panose="02020603050405020304" pitchFamily="18" charset="0"/>
                <a:cs typeface="Times New Roman" panose="02020603050405020304" pitchFamily="18" charset="0"/>
              </a:rPr>
              <a:t>model updates travel and sit unprotected.  </a:t>
            </a:r>
            <a:r>
              <a:rPr lang="en-IN" b="1" dirty="0">
                <a:latin typeface="Times New Roman" panose="02020603050405020304" pitchFamily="18" charset="0"/>
                <a:cs typeface="Times New Roman" panose="02020603050405020304" pitchFamily="18" charset="0"/>
              </a:rPr>
              <a:t>Proposed System: </a:t>
            </a:r>
            <a:r>
              <a:rPr lang="en-IN" dirty="0">
                <a:latin typeface="Times New Roman" panose="02020603050405020304" pitchFamily="18" charset="0"/>
                <a:cs typeface="Times New Roman" panose="02020603050405020304" pitchFamily="18" charset="0"/>
              </a:rPr>
              <a:t>updates are protected by Differential Privacy and Secure Aggregation.</a:t>
            </a:r>
          </a:p>
          <a:p>
            <a:r>
              <a:rPr lang="en-IN" b="1" dirty="0">
                <a:latin typeface="Times New Roman" panose="02020603050405020304" pitchFamily="18" charset="0"/>
                <a:cs typeface="Times New Roman" panose="02020603050405020304" pitchFamily="18" charset="0"/>
              </a:rPr>
              <a:t>Traditional AI: </a:t>
            </a:r>
            <a:r>
              <a:rPr lang="en-IN" dirty="0">
                <a:latin typeface="Times New Roman" panose="02020603050405020304" pitchFamily="18" charset="0"/>
                <a:cs typeface="Times New Roman" panose="02020603050405020304" pitchFamily="18" charset="0"/>
              </a:rPr>
              <a:t>predictions are a “black box” with no explanation.  </a:t>
            </a:r>
            <a:r>
              <a:rPr lang="en-IN" b="1" dirty="0">
                <a:latin typeface="Times New Roman" panose="02020603050405020304" pitchFamily="18" charset="0"/>
                <a:cs typeface="Times New Roman" panose="02020603050405020304" pitchFamily="18" charset="0"/>
              </a:rPr>
              <a:t>Proposed System: </a:t>
            </a:r>
            <a:r>
              <a:rPr lang="en-IN" dirty="0">
                <a:latin typeface="Times New Roman" panose="02020603050405020304" pitchFamily="18" charset="0"/>
                <a:cs typeface="Times New Roman" panose="02020603050405020304" pitchFamily="18" charset="0"/>
              </a:rPr>
              <a:t>Grad-CAM explanations and confidence scores come built in.</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Why This Approach Is Better Than Traditional AI</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11</a:t>
            </a:fld>
            <a:endParaRPr lang="en-IN"/>
          </a:p>
        </p:txBody>
      </p:sp>
    </p:spTree>
    <p:extLst>
      <p:ext uri="{BB962C8B-B14F-4D97-AF65-F5344CB8AC3E}">
        <p14:creationId xmlns:p14="http://schemas.microsoft.com/office/powerpoint/2010/main" val="3453097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The novelty here is not a brand-new AI algorithm — DenseNet121, Differential Privacy and Secure Aggregation are each individually well-studied.</a:t>
            </a:r>
          </a:p>
          <a:p>
            <a:r>
              <a:rPr lang="en-IN" dirty="0">
                <a:latin typeface="Times New Roman" panose="02020603050405020304" pitchFamily="18" charset="0"/>
                <a:cs typeface="Times New Roman" panose="02020603050405020304" pitchFamily="18" charset="0"/>
              </a:rPr>
              <a:t>The novelty is integration: combining OpenCV preprocessing, DenseNet121 transfer learning, Federated Learning, Differential Privacy, Secure Aggregation, TLS-secured communication, Grad-CAM explainability and Monte Carlo Dropout confidence into one realistic, end-to-end medical diagnosis framework.</a:t>
            </a:r>
          </a:p>
          <a:p>
            <a:r>
              <a:rPr lang="en-IN" dirty="0">
                <a:latin typeface="Times New Roman" panose="02020603050405020304" pitchFamily="18" charset="0"/>
                <a:cs typeface="Times New Roman" panose="02020603050405020304" pitchFamily="18" charset="0"/>
              </a:rPr>
              <a:t>Most published work picks one or two of these pieces; this project shows they can work together as a single, deployable pipeline that a real hospital network could adopt.</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Project Novelty</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12</a:t>
            </a:fld>
            <a:endParaRPr lang="en-IN"/>
          </a:p>
        </p:txBody>
      </p:sp>
    </p:spTree>
    <p:extLst>
      <p:ext uri="{BB962C8B-B14F-4D97-AF65-F5344CB8AC3E}">
        <p14:creationId xmlns:p14="http://schemas.microsoft.com/office/powerpoint/2010/main" val="3453097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Detecting Byzantine (malicious or faulty) hospital participants before their updates corrupt the global model.</a:t>
            </a:r>
          </a:p>
          <a:p>
            <a:r>
              <a:rPr lang="en-IN" dirty="0">
                <a:latin typeface="Times New Roman" panose="02020603050405020304" pitchFamily="18" charset="0"/>
                <a:cs typeface="Times New Roman" panose="02020603050405020304" pitchFamily="18" charset="0"/>
              </a:rPr>
              <a:t>Model-poisoning detection to catch deliberately harmful updates.</a:t>
            </a:r>
          </a:p>
          <a:p>
            <a:r>
              <a:rPr lang="en-IN" dirty="0">
                <a:latin typeface="Times New Roman" panose="02020603050405020304" pitchFamily="18" charset="0"/>
                <a:cs typeface="Times New Roman" panose="02020603050405020304" pitchFamily="18" charset="0"/>
              </a:rPr>
              <a:t>Digital-signature verification so the server can confirm each update genuinely came from a registered hospital.</a:t>
            </a:r>
          </a:p>
          <a:p>
            <a:r>
              <a:rPr lang="en-IN" dirty="0">
                <a:latin typeface="Times New Roman" panose="02020603050405020304" pitchFamily="18" charset="0"/>
                <a:cs typeface="Times New Roman" panose="02020603050405020304" pitchFamily="18" charset="0"/>
              </a:rPr>
              <a:t>Real multi-hospital deployment beyond the current simulated setup.</a:t>
            </a:r>
          </a:p>
          <a:p>
            <a:r>
              <a:rPr lang="en-IN" dirty="0">
                <a:latin typeface="Times New Roman" panose="02020603050405020304" pitchFamily="18" charset="0"/>
                <a:cs typeface="Times New Roman" panose="02020603050405020304" pitchFamily="18" charset="0"/>
              </a:rPr>
              <a:t>Cloud-native deployment using Docker and Kubernetes for production-scale reliability.</a:t>
            </a:r>
          </a:p>
          <a:p>
            <a:r>
              <a:rPr lang="en-IN" dirty="0">
                <a:latin typeface="Times New Roman" panose="02020603050405020304" pitchFamily="18" charset="0"/>
                <a:cs typeface="Times New Roman" panose="02020603050405020304" pitchFamily="18" charset="0"/>
              </a:rPr>
              <a:t>Integration with hospital PACS systems so the pipeline can plug directly into existing radiology workflows.</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Future Work</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13</a:t>
            </a:fld>
            <a:endParaRPr lang="en-IN"/>
          </a:p>
        </p:txBody>
      </p:sp>
    </p:spTree>
    <p:extLst>
      <p:ext uri="{BB962C8B-B14F-4D97-AF65-F5344CB8AC3E}">
        <p14:creationId xmlns:p14="http://schemas.microsoft.com/office/powerpoint/2010/main" val="3453097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614172" y="1720840"/>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K. </a:t>
            </a:r>
            <a:r>
              <a:rPr lang="en-IN" sz="2400" dirty="0" err="1">
                <a:latin typeface="Times New Roman" panose="02020603050405020304" pitchFamily="18" charset="0"/>
                <a:cs typeface="Times New Roman" panose="02020603050405020304" pitchFamily="18" charset="0"/>
              </a:rPr>
              <a:t>Koutsoubis</a:t>
            </a:r>
            <a:r>
              <a:rPr lang="en-IN" sz="2400" dirty="0">
                <a:latin typeface="Times New Roman" panose="02020603050405020304" pitchFamily="18" charset="0"/>
                <a:cs typeface="Times New Roman" panose="02020603050405020304" pitchFamily="18" charset="0"/>
              </a:rPr>
              <a:t>, A. Waqas, Y. Yilmaz, R. P. Ramachandran, M. B. </a:t>
            </a:r>
            <a:r>
              <a:rPr lang="en-IN" sz="2400" dirty="0" err="1">
                <a:latin typeface="Times New Roman" panose="02020603050405020304" pitchFamily="18" charset="0"/>
                <a:cs typeface="Times New Roman" panose="02020603050405020304" pitchFamily="18" charset="0"/>
              </a:rPr>
              <a:t>Schabath</a:t>
            </a:r>
            <a:r>
              <a:rPr lang="en-IN" sz="2400" dirty="0">
                <a:latin typeface="Times New Roman" panose="02020603050405020304" pitchFamily="18" charset="0"/>
                <a:cs typeface="Times New Roman" panose="02020603050405020304" pitchFamily="18" charset="0"/>
              </a:rPr>
              <a:t>, and G. Rasool, “Privacy-preserving Federated Learning and Uncertainty Quantification in Medical Imaging,” Radiology: Artificial Intelligence, vol. 7, no. 4, Art. no. e240637, Jul. 2025</a:t>
            </a:r>
          </a:p>
          <a:p>
            <a:pPr marL="0" indent="0" eaLnBrk="0" fontAlgn="base" hangingPunct="0">
              <a:lnSpc>
                <a:spcPct val="100000"/>
              </a:lnSpc>
              <a:spcBef>
                <a:spcPct val="0"/>
              </a:spcBef>
              <a:spcAft>
                <a:spcPct val="0"/>
              </a:spcAft>
              <a:buNone/>
            </a:pPr>
            <a:endParaRPr lang="en-IN" sz="2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S. Wassan, </a:t>
            </a:r>
            <a:r>
              <a:rPr lang="en-IN" sz="2400" dirty="0" err="1">
                <a:latin typeface="Times New Roman" panose="02020603050405020304" pitchFamily="18" charset="0"/>
                <a:cs typeface="Times New Roman" panose="02020603050405020304" pitchFamily="18" charset="0"/>
              </a:rPr>
              <a:t>Liudajun</a:t>
            </a:r>
            <a:r>
              <a:rPr lang="en-IN" sz="2400" dirty="0">
                <a:latin typeface="Times New Roman" panose="02020603050405020304" pitchFamily="18" charset="0"/>
                <a:cs typeface="Times New Roman" panose="02020603050405020304" pitchFamily="18" charset="0"/>
              </a:rPr>
              <a:t>, H. Ying, H. </a:t>
            </a:r>
            <a:r>
              <a:rPr lang="en-IN" sz="2400" dirty="0" err="1">
                <a:latin typeface="Times New Roman" panose="02020603050405020304" pitchFamily="18" charset="0"/>
                <a:cs typeface="Times New Roman" panose="02020603050405020304" pitchFamily="18" charset="0"/>
              </a:rPr>
              <a:t>Dongyan</a:t>
            </a:r>
            <a:r>
              <a:rPr lang="en-IN" sz="2400" dirty="0">
                <a:latin typeface="Times New Roman" panose="02020603050405020304" pitchFamily="18" charset="0"/>
                <a:cs typeface="Times New Roman" panose="02020603050405020304" pitchFamily="18" charset="0"/>
              </a:rPr>
              <a:t>, and P. Fei, “Federated learning and differential privacy: Machine learning and deep learning for biomedical image data classification,” DIGITAL HEALTH, vol. 11, Art. no. 20552076251358531, Sep. 2025.</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29/07/26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14</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3131</Words>
  <Application>Microsoft Macintosh PowerPoint</Application>
  <PresentationFormat>Widescreen</PresentationFormat>
  <Paragraphs>146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B.Tech BCSE497J-PROJECT I  Privacy-Preserving Medical Diagnosis using Federated Learning</vt:lpstr>
      <vt:lpstr>Aim</vt:lpstr>
      <vt:lpstr>Abstract</vt:lpstr>
      <vt:lpstr>Literature Review</vt:lpstr>
      <vt:lpstr>Research Gap</vt:lpstr>
      <vt:lpstr>Objectives</vt:lpstr>
      <vt:lpstr>System Workflow – The Big Picture</vt:lpstr>
      <vt:lpstr>How Each Training Round Works</vt:lpstr>
      <vt:lpstr>Making the AI Trustworthy for Doctors</vt:lpstr>
      <vt:lpstr>Layered Security Architecture</vt:lpstr>
      <vt:lpstr>Why This Approach Is Better Than Traditional AI</vt:lpstr>
      <vt:lpstr>Project Novelty</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Akhya Sinha</cp:lastModifiedBy>
  <cp:revision>5</cp:revision>
  <dcterms:created xsi:type="dcterms:W3CDTF">2026-07-14T06:00:41Z</dcterms:created>
  <dcterms:modified xsi:type="dcterms:W3CDTF">2026-07-29T03:20:02Z</dcterms:modified>
</cp:coreProperties>
</file>